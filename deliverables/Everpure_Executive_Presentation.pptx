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month 3</c:v>
                </c:pt>
              </c:strCache>
            </c:strRef>
          </c:tx>
          <c:spPr>
            <a:solidFill>
              <a:srgbClr val="86B6EF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Conservative — baseline 0.6% per month</c:v>
                </c:pt>
                <c:pt idx="1">
                  <c:v>Base — baseline 1.2% per month</c:v>
                </c:pt>
                <c:pt idx="2">
                  <c:v>Optimistic — baseline 2.0% per month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17.0</c:v>
                </c:pt>
                <c:pt idx="1">
                  <c:v>33.7</c:v>
                </c:pt>
                <c:pt idx="2">
                  <c:v>55.6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month 6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Conservative — baseline 0.6% per month</c:v>
                </c:pt>
                <c:pt idx="1">
                  <c:v>Base — baseline 1.2% per month</c:v>
                </c:pt>
                <c:pt idx="2">
                  <c:v>Optimistic — baseline 2.0% per month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33.7</c:v>
                </c:pt>
                <c:pt idx="1">
                  <c:v>66.3</c:v>
                </c:pt>
                <c:pt idx="2">
                  <c:v>108.3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By month 12</c:v>
                </c:pt>
              </c:strCache>
            </c:strRef>
          </c:tx>
          <c:spPr>
            <a:solidFill>
              <a:srgbClr val="0D366B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Conservative — baseline 0.6% per month</c:v>
                </c:pt>
                <c:pt idx="1">
                  <c:v>Base — baseline 1.2% per month</c:v>
                </c:pt>
                <c:pt idx="2">
                  <c:v>Optimistic — baseline 2.0% per month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66.3</c:v>
                </c:pt>
                <c:pt idx="1">
                  <c:v>128.7</c:v>
                </c:pt>
                <c:pt idx="2">
                  <c:v>206.2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3DAE3"/>
            </a:solidFill>
          </a:ln>
        </c:spPr>
        <c:txPr>
          <a:bodyPr/>
          <a:lstStyle/>
          <a:p>
            <a:pPr>
              <a:defRPr sz="105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4F5B6A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>
              <a:solidFill>
                <a:srgbClr val="4F5B6A"/>
              </a:solidFill>
            </a:defRPr>
          </a:pPr>
        </a:p>
      </c:txPr>
    </c:legend>
    <c:dispBlanksAs val="gap"/>
  </c:chart>
  <c:txPr>
    <a:bodyPr/>
    <a:lstStyle/>
    <a:p>
      <a:pPr>
        <a:defRPr sz="1050">
          <a:solidFill>
            <a:srgbClr val="1F29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NPV ($k)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0B2341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cat>
            <c:strRef>
              <c:f>Sheet1!$A$2:$A$4</c:f>
              <c:strCache>
                <c:ptCount val="3"/>
                <c:pt idx="0">
                  <c:v>5% offer</c:v>
                </c:pt>
                <c:pt idx="1">
                  <c:v>15% offer · central case</c:v>
                </c:pt>
                <c:pt idx="2">
                  <c:v>30% offer</c:v>
                </c:pt>
              </c:strCache>
            </c:strRef>
          </c:cat>
          <c:val>
            <c:numRef>
              <c:f>Sheet1!$B$2:$B$4</c:f>
              <c:numCache>
                <c:formatCode>"$"#,##0.0"k"</c:formatCode>
                <c:ptCount val="3"/>
                <c:pt idx="0">
                  <c:v>241.53334669518873</c:v>
                </c:pt>
                <c:pt idx="1">
                  <c:v>201.50165868186974</c:v>
                </c:pt>
                <c:pt idx="2">
                  <c:v>141.45412666189122</c:v>
                </c:pt>
              </c:numCache>
            </c:numRef>
          </c:val>
        </c:ser>
        <c:dLbls>
          <c:numFmt formatCode="&quot;$&quot;#,##0.0&quot;k&quot;" sourceLinked="0"/>
          <c:txPr>
            <a:bodyPr/>
            <a:lstStyle/>
            <a:p>
              <a:pPr>
                <a:defRPr sz="14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3DAE3"/>
            </a:solidFill>
          </a:ln>
        </c:spPr>
        <c:txPr>
          <a:bodyPr/>
          <a:lstStyle/>
          <a:p>
            <a:pPr>
              <a:defRPr sz="105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4F5B6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F29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dPt>
            <c:idx val="0"/>
            <c:spPr>
              <a:solidFill>
                <a:srgbClr val="1C5CAB"/>
              </a:solidFill>
            </c:spPr>
          </c:dPt>
          <c:dPt>
            <c:idx val="1"/>
            <c:spPr>
              <a:solidFill>
                <a:srgbClr val="1C5CAB"/>
              </a:solidFill>
            </c:spPr>
          </c:dPt>
          <c:dPt>
            <c:idx val="2"/>
            <c:spPr>
              <a:solidFill>
                <a:srgbClr val="1C5CAB"/>
              </a:solidFill>
            </c:spPr>
          </c:dPt>
          <c:dPt>
            <c:idx val="3"/>
            <c:spPr>
              <a:solidFill>
                <a:srgbClr val="9AA5B1"/>
              </a:solidFill>
            </c:spPr>
          </c:dPt>
          <c:cat>
            <c:strRef>
              <c:f>Sheet1!$A$2:$A$5</c:f>
              <c:strCache>
                <c:ptCount val="4"/>
                <c:pt idx="0">
                  <c:v>Partner-led candidate</c:v>
                </c:pt>
                <c:pt idx="1">
                  <c:v>Direct-enterprise candidate</c:v>
                </c:pt>
                <c:pt idx="2">
                  <c:v>Digital-nurture candidate</c:v>
                </c:pt>
                <c:pt idx="3">
                  <c:v>Hold / 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247</c:v>
                </c:pt>
                <c:pt idx="1">
                  <c:v>66</c:v>
                </c:pt>
                <c:pt idx="2">
                  <c:v>205</c:v>
                </c:pt>
                <c:pt idx="3">
                  <c:v>626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hyperlink" Target="https://drive.google.com/drive/folders/1Ixur5zMZVuDybzTabTmsl3SsbrRX-Xts?usp=sharing" TargetMode="External"/><Relationship Id="rId4" Type="http://schemas.openxmlformats.org/officeDocument/2006/relationships/hyperlink" Target="https://github.com/kushajmera/everpure-case-stud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85216"/>
            <a:ext cx="11094415" cy="868680"/>
          </a:xfrm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lang="en-US">
                <a:solidFill>
                  <a:srgbClr val="0B2341"/>
                </a:solidFill>
                <a:latin typeface="Cambria"/>
              </a:rPr>
              <a:t>57% of source accounts appear two-year dormant — recovery must start with data validation, not outreach</a:t>
            </a:r>
            <a:endParaRPr lang="en-US" sz="2300" dirty="0"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C5CAB"/>
                </a:solidFill>
                <a:latin typeface="Arial"/>
              </a:rPr>
              <a:t>EXECUTIVE SUMMARY</a:t>
            </a:r>
            <a:endParaRPr lang="en-US" sz="10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0" y="310896"/>
            <a:ext cx="59737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lang="en-US">
                <a:solidFill>
                  <a:srgbClr val="0B2341"/>
                </a:solidFill>
                <a:latin typeface="Arial"/>
              </a:rPr>
              <a:t>1  Opportunity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2  Data &amp; SQL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3  Survival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4  Monte Carlo NPV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5  GTM routing</a:t>
            </a:r>
            <a:endParaRPr lang="en-US" sz="950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Source: Case_Study_1_Install_Base_Reactivation.csv (2,000 rows; SHA-256 6863ea00…a229bc); frozen Phase 1–4 outputs. “Provisional” = source-reported years_inactive ≥ 2; fiscal-year eligibility unconfirmed. The brief’s “&gt;50% of install base, +21% CAGR” cannot be verified from this extract. Historical spend is not ARR; NPV is illustrative, not causal.</a:t>
            </a:r>
            <a:endParaRPr lang="en-US" sz="9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646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8A94A3"/>
                </a:solidFill>
                <a:latin typeface="Arial"/>
              </a:rPr>
              <a:t>Executive slide 1 of 5</a:t>
            </a:r>
            <a:endParaRPr lang="en-US" sz="9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WHERE THE DORMANT OPPORTUNITY SITS</a:t>
            </a:r>
            <a:endParaRPr lang="en-US" sz="1000" dirty="0"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993392" cy="11155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wrap="square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3000" b="0" lang="en-US">
                <a:solidFill>
                  <a:srgbClr val="0B2341"/>
                </a:solidFill>
                <a:latin typeface="Cambria"/>
              </a:rPr>
              <a:t>2,000</a:t>
            </a:r>
            <a:endParaRPr lang="en-US" sz="30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lang="en-US">
                <a:solidFill>
                  <a:srgbClr val="4F5B6A"/>
                </a:solidFill>
                <a:latin typeface="Arial"/>
              </a:rPr>
              <a:t>source accounts in 301 root groups</a:t>
            </a:r>
            <a:endParaRPr lang="en-US" sz="1050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24912" y="1828800"/>
            <a:ext cx="1993392" cy="11155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wrap="square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3000" b="0" lang="en-US">
                <a:solidFill>
                  <a:srgbClr val="0B2341"/>
                </a:solidFill>
                <a:latin typeface="Cambria"/>
              </a:rPr>
              <a:t>1,144</a:t>
            </a:r>
            <a:endParaRPr lang="en-US" sz="30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lang="en-US">
                <a:solidFill>
                  <a:srgbClr val="4F5B6A"/>
                </a:solidFill>
                <a:latin typeface="Arial"/>
              </a:rPr>
              <a:t>provisionally two-year inactive — 57.2% of source</a:t>
            </a:r>
            <a:endParaRPr lang="en-US" sz="1050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01183" y="1828800"/>
            <a:ext cx="1993392" cy="11155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09728" tIns="91440" wrap="square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3000" b="0" lang="en-US">
                <a:solidFill>
                  <a:srgbClr val="0B2341"/>
                </a:solidFill>
                <a:latin typeface="Cambria"/>
              </a:rPr>
              <a:t>295</a:t>
            </a:r>
            <a:endParaRPr lang="en-US" sz="30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lang="en-US">
                <a:solidFill>
                  <a:srgbClr val="4F5B6A"/>
                </a:solidFill>
                <a:latin typeface="Arial"/>
              </a:rPr>
              <a:t>root groups contain the 1,144 modeled accounts</a:t>
            </a:r>
            <a:endParaRPr lang="en-US" sz="1050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lang="en-US">
                <a:solidFill>
                  <a:srgbClr val="1F2933"/>
                </a:solidFill>
                <a:latin typeface="Arial"/>
              </a:rPr>
              <a:t>Composition of the 2,000 source accounts by inactivity evidence</a:t>
            </a:r>
            <a:endParaRPr lang="en-US" sz="1050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401568"/>
            <a:ext cx="3602443" cy="457200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lang="en-US">
                <a:solidFill>
                  <a:srgbClr val="FFFFFF"/>
                </a:solidFill>
                <a:latin typeface="Arial"/>
              </a:rPr>
              <a:t>1,144</a:t>
            </a:r>
            <a:r>
              <a:rPr sz="1050" b="0" lang="en-US">
                <a:solidFill>
                  <a:srgbClr val="FFFFFF"/>
                </a:solidFill>
                <a:latin typeface="Arial"/>
              </a:rPr>
              <a:t> · 57.2%</a:t>
            </a:r>
            <a:endParaRPr lang="en-US" sz="1050" dirty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355672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Modeled: source-reported inactive ≥ 2 years</a:t>
            </a:r>
            <a:endParaRPr lang="en-US" sz="950" dirty="0"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78515" y="3401568"/>
            <a:ext cx="1755776" cy="45720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lang="en-US">
                <a:solidFill>
                  <a:srgbClr val="0B2341"/>
                </a:solidFill>
                <a:latin typeface="Arial"/>
              </a:rPr>
              <a:t>562</a:t>
            </a:r>
            <a:r>
              <a:rPr sz="1050" b="0" lang="en-US">
                <a:solidFill>
                  <a:srgbClr val="0B2341"/>
                </a:solidFill>
                <a:latin typeface="Arial"/>
              </a:rPr>
              <a:t> · 28.1%</a:t>
            </a:r>
            <a:endParaRPr lang="en-US" sz="1050" dirty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78515" y="3931920"/>
            <a:ext cx="17100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Excluded: source vs. booking-date conflict</a:t>
            </a:r>
            <a:endParaRPr lang="en-US" sz="950" dirty="0"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61723" y="3401568"/>
            <a:ext cx="905420" cy="4572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lang="en-US">
                <a:solidFill>
                  <a:srgbClr val="FFFFFF"/>
                </a:solidFill>
                <a:latin typeface="Arial"/>
              </a:rPr>
              <a:t>294</a:t>
            </a:r>
            <a:r>
              <a:rPr sz="1050" b="0" lang="en-US">
                <a:solidFill>
                  <a:srgbClr val="FFFFFF"/>
                </a:solidFill>
                <a:latin typeface="Arial"/>
              </a:rPr>
              <a:t> · 14.7%</a:t>
            </a:r>
            <a:endParaRPr lang="en-US" sz="1050" dirty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61723" y="3931920"/>
            <a:ext cx="8597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Excluded: inactivity unknown</a:t>
            </a:r>
            <a:endParaRPr lang="en-US" sz="950" dirty="0"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553712"/>
            <a:ext cx="30815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28016" tIns="109728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lang="en-US">
                <a:solidFill>
                  <a:srgbClr val="0B2341"/>
                </a:solidFill>
                <a:latin typeface="Cambria"/>
              </a:rPr>
              <a:t>$201.5k</a:t>
            </a:r>
            <a:endParaRPr lang="en-US" sz="26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lang="en-US">
                <a:solidFill>
                  <a:srgbClr val="4F5B6A"/>
                </a:solidFill>
                <a:latin typeface="Arial"/>
              </a:rPr>
              <a:t>analytical expected net program NPV — base hazard, 15% hypothetical offer, 12 months, 1,144 accounts. Illustrative unit economics; not verified profit or causal uplift.</a:t>
            </a:r>
            <a:endParaRPr lang="en-US" sz="1000" dirty="0"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13048" y="4553712"/>
            <a:ext cx="30815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28016" tIns="109728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lang="en-US">
                <a:solidFill>
                  <a:srgbClr val="0B2341"/>
                </a:solidFill>
                <a:latin typeface="Cambria"/>
              </a:rPr>
              <a:t>0</a:t>
            </a:r>
            <a:endParaRPr lang="en-US" sz="26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lang="en-US">
                <a:solidFill>
                  <a:srgbClr val="4F5B6A"/>
                </a:solidFill>
                <a:latin typeface="Arial"/>
              </a:rPr>
              <a:t>accounts are authorized for customer contact today. Every route is a planning candidate pending eligibility, ownership and permission checks.</a:t>
            </a:r>
            <a:endParaRPr lang="en-US" sz="1000" dirty="0"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69480" y="1572768"/>
            <a:ext cx="4373575" cy="45354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755648"/>
            <a:ext cx="391637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lang="en-US">
                <a:solidFill>
                  <a:srgbClr val="0B2341"/>
                </a:solidFill>
                <a:latin typeface="Arial"/>
              </a:rPr>
              <a:t>Recommendation: evidence-gated program</a:t>
            </a:r>
            <a:endParaRPr lang="en-US" sz="1400" dirty="0">
              <a:latin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498079" y="2176272"/>
            <a:ext cx="310896" cy="310896"/>
          </a:xfrm>
          <a:prstGeom prst="ellipse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lang="en-US">
                <a:solidFill>
                  <a:srgbClr val="FFFFFF"/>
                </a:solidFill>
                <a:latin typeface="Arial"/>
              </a:rPr>
              <a:t>1</a:t>
            </a:r>
            <a:endParaRPr lang="en-US" sz="1200" dirty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2712" y="2139696"/>
            <a:ext cx="3459175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80" b="1" lang="en-US">
                <a:solidFill>
                  <a:srgbClr val="1F2933"/>
                </a:solidFill>
                <a:latin typeface="Arial"/>
              </a:rPr>
              <a:t>Validate</a:t>
            </a:r>
            <a:endParaRPr lang="en-US" sz="108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80" b="0" lang="en-US">
                <a:solidFill>
                  <a:srgbClr val="1F2933"/>
                </a:solidFill>
                <a:latin typeface="Arial"/>
              </a:rPr>
              <a:t>Confirm fiscal-year inactivity, partner ownership, health and service evidence before any account is targeted.</a:t>
            </a:r>
            <a:endParaRPr lang="en-US" sz="1080" dirty="0">
              <a:latin typeface="Arial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498079" y="2926079"/>
            <a:ext cx="310896" cy="310896"/>
          </a:xfrm>
          <a:prstGeom prst="ellipse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lang="en-US">
                <a:solidFill>
                  <a:srgbClr val="FFFFFF"/>
                </a:solidFill>
                <a:latin typeface="Arial"/>
              </a:rPr>
              <a:t>2</a:t>
            </a:r>
            <a:endParaRPr lang="en-US" sz="1200" dirty="0"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82712" y="2889503"/>
            <a:ext cx="3459175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80" b="1" lang="en-US">
                <a:solidFill>
                  <a:srgbClr val="1F2933"/>
                </a:solidFill>
                <a:latin typeface="Arial"/>
              </a:rPr>
              <a:t>Prioritize</a:t>
            </a:r>
            <a:endParaRPr lang="en-US" sz="108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80" b="0" lang="en-US">
                <a:solidFill>
                  <a:srgbClr val="1F2933"/>
                </a:solidFill>
                <a:latin typeface="Arial"/>
              </a:rPr>
              <a:t>Rank opportunities with documented, versioned assumptions and keep evidence gaps visible beside every score.</a:t>
            </a:r>
            <a:endParaRPr lang="en-US" sz="1080" dirty="0">
              <a:latin typeface="Arial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98079" y="3675887"/>
            <a:ext cx="310896" cy="310896"/>
          </a:xfrm>
          <a:prstGeom prst="ellipse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lang="en-US">
                <a:solidFill>
                  <a:srgbClr val="FFFFFF"/>
                </a:solidFill>
                <a:latin typeface="Arial"/>
              </a:rPr>
              <a:t>3</a:t>
            </a:r>
            <a:endParaRPr lang="en-US" sz="1200" dirty="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82712" y="3639312"/>
            <a:ext cx="3459175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80" b="1" lang="en-US">
                <a:solidFill>
                  <a:srgbClr val="1F2933"/>
                </a:solidFill>
                <a:latin typeface="Arial"/>
              </a:rPr>
              <a:t>Route</a:t>
            </a:r>
            <a:endParaRPr lang="en-US" sz="108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80" b="0" lang="en-US">
                <a:solidFill>
                  <a:srgbClr val="1F2933"/>
                </a:solidFill>
                <a:latin typeface="Arial"/>
              </a:rPr>
              <a:t>Assign partner-led, direct-enterprise or digital-nurture planning workflows; hold unresolved accounts for review.</a:t>
            </a:r>
            <a:endParaRPr lang="en-US" sz="1080" dirty="0">
              <a:latin typeface="Arial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98079" y="4425696"/>
            <a:ext cx="310896" cy="310896"/>
          </a:xfrm>
          <a:prstGeom prst="ellipse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lang="en-US">
                <a:solidFill>
                  <a:srgbClr val="FFFFFF"/>
                </a:solidFill>
                <a:latin typeface="Arial"/>
              </a:rPr>
              <a:t>4</a:t>
            </a:r>
            <a:endParaRPr lang="en-US" sz="1200" dirty="0"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82712" y="4389120"/>
            <a:ext cx="3459175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80" b="1" lang="en-US">
                <a:solidFill>
                  <a:srgbClr val="1F2933"/>
                </a:solidFill>
                <a:latin typeface="Arial"/>
              </a:rPr>
              <a:t>Pilot &amp; measure</a:t>
            </a:r>
            <a:endParaRPr lang="en-US" sz="108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80" b="0" lang="en-US">
                <a:solidFill>
                  <a:srgbClr val="1F2933"/>
                </a:solidFill>
                <a:latin typeface="Arial"/>
              </a:rPr>
              <a:t>Run controlled pilots with an untreated comparison group and track observed outcomes before any ROI claim.</a:t>
            </a:r>
            <a:endParaRPr lang="en-US" sz="1080" dirty="0"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98079" y="5376672"/>
            <a:ext cx="3916375" cy="566928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Decision: fund a data-validation sprint and a measured pilot — not a full-scale reactivation campaign.</a:t>
            </a:r>
            <a:endParaRPr lang="en-US" sz="110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85216"/>
            <a:ext cx="11094415" cy="868680"/>
          </a:xfrm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lang="en-US">
                <a:solidFill>
                  <a:srgbClr val="0B2341"/>
                </a:solidFill>
                <a:latin typeface="Cambria"/>
              </a:rPr>
              <a:t>Systematic hygiene logged 4,889 data-quality exceptions and keeps observed facts separate from modeled assumptions</a:t>
            </a:r>
            <a:endParaRPr lang="en-US" sz="2300" dirty="0"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C5CAB"/>
                </a:solidFill>
                <a:latin typeface="Arial"/>
              </a:rPr>
              <a:t>DATA FOUNDATION &amp; SQL</a:t>
            </a:r>
            <a:endParaRPr lang="en-US" sz="10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0" y="310896"/>
            <a:ext cx="59737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8A94A3"/>
                </a:solidFill>
                <a:latin typeface="Arial"/>
              </a:rPr>
              <a:t>1  Opportunity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1" lang="en-US">
                <a:solidFill>
                  <a:srgbClr val="0B2341"/>
                </a:solidFill>
                <a:latin typeface="Arial"/>
              </a:rPr>
              <a:t>2  Data &amp; SQL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3  Survival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4  Monte Carlo NPV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5  GTM routing</a:t>
            </a:r>
            <a:endParaRPr lang="en-US" sz="950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Source: Phase 1 exception register and metrics (analysis date 2026-10-09). The brief describes injected duplicates; the supplied file has zero duplicate account IDs, so detection is implemented but no merge is invented. Account identifiers and row-level outputs are confidential and excluded from every shared artifact.</a:t>
            </a:r>
            <a:endParaRPr lang="en-US" sz="9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646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8A94A3"/>
                </a:solidFill>
                <a:latin typeface="Arial"/>
              </a:rPr>
              <a:t>Executive slide 2 of 5</a:t>
            </a:r>
            <a:endParaRPr lang="en-US" sz="9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INJECTED DEFECTS AND HOW EACH WAS HANDLED</a:t>
            </a:r>
            <a:endParaRPr lang="en-US" sz="1000" dirty="0">
              <a:latin typeface="Arial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492239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/>
                <a:gridCol w="2697480"/>
                <a:gridCol w="192024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en-US">
                          <a:solidFill>
                            <a:srgbClr val="FFFFFF"/>
                          </a:solidFill>
                          <a:latin typeface="Arial"/>
                        </a:rPr>
                        <a:t>Defect named in the brief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en-US">
                          <a:solidFill>
                            <a:srgbClr val="FFFFFF"/>
                          </a:solidFill>
                          <a:latin typeface="Arial"/>
                        </a:rPr>
                        <a:t>Observed in the 2,000-row extract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en-US">
                          <a:solidFill>
                            <a:srgbClr val="FFFFFF"/>
                          </a:solidFill>
                          <a:latin typeface="Arial"/>
                        </a:rPr>
                        <a:t>Handling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Duplicate accounts across parent-child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0 duplicate IDs; duplicate, cycle and self-reference checks retained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Flag for review; never auto-merge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Region string formatting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6 raw variants → 5 regions; 667 France rows normalized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Trim + casefold mapping; raw value kept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Missing SFDC health score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844 unknown (444 'nan', 400 'Missing')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Kept unknown and flagged; no imputation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NaN partner-managed flag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654 unresolved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Kept unknown; routes to hold (R3)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Sentinel 999 open tickets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322 sentinels vs. 324 genuine zeros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Excluded from valid ticket counts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Inactivity definition (found, not injected)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1,144 agree · 562 conflict · 294 unknown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>Provisional cohort; conflicts held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noFill/>
                  </a:tcPr>
                </a:tc>
              </a:tr>
              <a:tr h="411480">
                <a:tc gridSpan="3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0B2341"/>
                          </a:solidFill>
                          <a:latin typeface="Arial"/>
                        </a:rPr>
                        <a:t>4,889 exception events across 1,968 accounts · hierarchy resolved: 301 roots, 1,699 children, 0 unresolved</a:t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/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en-US">
                          <a:solidFill>
                            <a:srgbClr val="1F2933"/>
                          </a:solidFill>
                          <a:latin typeface="Arial"/>
                        </a:rPr>
                        <a:t/>
                      </a:r>
                      <a:endParaRPr lang="en-US" sz="105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572768"/>
            <a:ext cx="432785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MODELING ARCHITECTURE (IMPLEMENTED MODULES)</a:t>
            </a:r>
            <a:endParaRPr lang="en-US" sz="1000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327855" cy="457200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Raw source → integrity gate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SHA-256, row count, exact spend · source_integrity.py</a:t>
            </a:r>
            <a:endParaRPr lang="en-US" sz="950" dirty="0">
              <a:latin typeface="Arial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9479127" y="2295144"/>
            <a:ext cx="0" cy="100584"/>
          </a:xfrm>
          <a:prstGeom prst="line">
            <a:avLst/>
          </a:prstGeom>
          <a:ln w="12700">
            <a:solidFill>
              <a:srgbClr val="4F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0" y="2404872"/>
            <a:ext cx="4327855" cy="457200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Cleaning, exceptions, hierarchy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quality.py · hierarchy.py (arbitrary depth)</a:t>
            </a:r>
            <a:endParaRPr lang="en-US" sz="950" dirty="0">
              <a:latin typeface="Arial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479127" y="2871215"/>
            <a:ext cx="0" cy="100585"/>
          </a:xfrm>
          <a:prstGeom prst="line">
            <a:avLst/>
          </a:prstGeom>
          <a:ln w="12700">
            <a:solidFill>
              <a:srgbClr val="4F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0" y="2980944"/>
            <a:ext cx="4327855" cy="457200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DuckDB SQL analytics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CTEs, LAG/LEAD, DENSE_RANK, running SUM · sql/*.sql</a:t>
            </a:r>
            <a:endParaRPr lang="en-US" sz="950" dirty="0">
              <a:latin typeface="Arial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79127" y="3447287"/>
            <a:ext cx="0" cy="100585"/>
          </a:xfrm>
          <a:prstGeom prst="line">
            <a:avLst/>
          </a:prstGeom>
          <a:ln w="12700">
            <a:solidFill>
              <a:srgbClr val="4F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0" y="3557016"/>
            <a:ext cx="4327855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Provisional cohort → assumed hazards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reactivation_scenarios.py (Phase 2)</a:t>
            </a:r>
            <a:endParaRPr lang="en-US" sz="950" dirty="0">
              <a:latin typeface="Arial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9479127" y="4023360"/>
            <a:ext cx="0" cy="100584"/>
          </a:xfrm>
          <a:prstGeom prst="line">
            <a:avLst/>
          </a:prstGeom>
          <a:ln w="12700">
            <a:solidFill>
              <a:srgbClr val="4F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0" y="4133087"/>
            <a:ext cx="4327855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Monte Carlo NPV, 1,000 runs × 9 cells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financial_model.py (Phase 3)</a:t>
            </a:r>
            <a:endParaRPr lang="en-US" sz="950" dirty="0">
              <a:latin typeface="Arial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9479127" y="4599431"/>
            <a:ext cx="0" cy="100585"/>
          </a:xfrm>
          <a:prstGeom prst="line">
            <a:avLst/>
          </a:prstGeom>
          <a:ln w="12700">
            <a:solidFill>
              <a:srgbClr val="4F5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0" y="4709160"/>
            <a:ext cx="4327855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Arial"/>
              </a:rPr>
              <a:t>Rule-based GTM routing</a:t>
            </a:r>
            <a:endParaRPr lang="en-US" sz="110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D7E3F2"/>
                </a:solidFill>
                <a:latin typeface="Arial"/>
              </a:rPr>
              <a:t>gtm_routing.py + versioned policy v2 (Phase 4)</a:t>
            </a:r>
            <a:endParaRPr lang="en-US" sz="950" dirty="0"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0" y="5294376"/>
            <a:ext cx="128016" cy="128016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26694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Observed source facts</a:t>
            </a:r>
            <a:endParaRPr lang="en-US" sz="950" dirty="0"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0" y="5294376"/>
            <a:ext cx="128016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52669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Assumption-based models</a:t>
            </a:r>
            <a:endParaRPr lang="en-US" sz="950" dirty="0"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5495544"/>
            <a:ext cx="432785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Each phase hands off through a versioned, SHA-256-pinned contract; Phase 5 re-validates all of them before any number reaches this deck.</a:t>
            </a:r>
            <a:endParaRPr lang="en-US" sz="950" dirty="0"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522976"/>
            <a:ext cx="11094415" cy="6583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lang="en-US">
                <a:solidFill>
                  <a:srgbClr val="1F2933"/>
                </a:solidFill>
                <a:latin typeface="Arial"/>
              </a:rPr>
              <a:t>Why there is no observed decay curve: </a:t>
            </a:r>
            <a:r>
              <a:rPr sz="1050" b="0" lang="en-US">
                <a:solidFill>
                  <a:srgbClr val="1F2933"/>
                </a:solidFill>
                <a:latin typeface="Arial"/>
              </a:rPr>
              <a:t>booking dates rise exactly with account ID and every contract starts exactly 365 days earlier, so LAG/LEAD gaps reduce to ID arithmetic. Revenue-decay velocity and historical reactivation timing cannot be estimated from this extract; the decay SQL (LAG, LEAD, DENSE_RANK) is executed on a labeled synthetic fixture.</a:t>
            </a:r>
            <a:endParaRPr lang="en-US" sz="1050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85216"/>
            <a:ext cx="11094415" cy="868680"/>
          </a:xfrm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lang="en-US">
                <a:solidFill>
                  <a:srgbClr val="0B2341"/>
                </a:solidFill>
                <a:latin typeface="Cambria"/>
              </a:rPr>
              <a:t>Assumed hazards imply 66–206 expected first reactivations within 12 months — a planning range, not a forecast</a:t>
            </a:r>
            <a:endParaRPr lang="en-US" sz="2300" dirty="0"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C5CAB"/>
                </a:solidFill>
                <a:latin typeface="Arial"/>
              </a:rPr>
              <a:t>REACTIVATION PROBABILITY &amp; SURVIVAL ANALYSIS</a:t>
            </a:r>
            <a:endParaRPr lang="en-US" sz="10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0" y="310896"/>
            <a:ext cx="59737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8A94A3"/>
                </a:solidFill>
                <a:latin typeface="Arial"/>
              </a:rPr>
              <a:t>1  Opportunity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2  Data &amp; SQL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1" lang="en-US">
                <a:solidFill>
                  <a:srgbClr val="0B2341"/>
                </a:solidFill>
                <a:latin typeface="Arial"/>
              </a:rPr>
              <a:t>3  Survival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4  Monte Carlo NPV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5  GTM routing</a:t>
            </a:r>
            <a:endParaRPr lang="en-US" sz="950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Source: frozen Phase 2 outputs (reactivation_scenario_summary.csv, scenario_sensitivity.csv, synthetic_cox_coefficients.csv); assumption register v1, fingerprint 6195ba2e…. Probabilities are ASSUMPTION_BASED_NOT_CALIBRATED; the Cox fit uses invented subjects only.</a:t>
            </a:r>
            <a:endParaRPr lang="en-US" sz="9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646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8A94A3"/>
                </a:solidFill>
                <a:latin typeface="Arial"/>
              </a:rPr>
              <a:t>Executive slide 3 of 5</a:t>
            </a:r>
            <a:endParaRPr lang="en-US" sz="900" dirty="0"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3977639" cy="455371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36118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lang="en-US">
                <a:solidFill>
                  <a:srgbClr val="1C5CAB"/>
                </a:solidFill>
                <a:latin typeface="Arial"/>
              </a:rPr>
              <a:t>LANE A · METHOD DEMONSTRATION</a:t>
            </a:r>
            <a:endParaRPr lang="en-US" sz="950" dirty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6118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lang="en-US">
                <a:solidFill>
                  <a:srgbClr val="0B2341"/>
                </a:solidFill>
                <a:latin typeface="Arial"/>
              </a:rPr>
              <a:t>Cox proportional hazards on synthetic event histories</a:t>
            </a:r>
            <a:endParaRPr lang="en-US" sz="1300" dirty="0"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487168"/>
          <a:ext cx="3611880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5880"/>
                <a:gridCol w="685800"/>
                <a:gridCol w="160020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Synthetic covariate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True β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Fitted HR (95% CI)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Health proxy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+0.45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1.66 (1.47–1.87)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Engagement proxy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−0.35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0.70 (0.66–0.74)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Partner proxy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+0.25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lang="en-US">
                          <a:solidFill>
                            <a:srgbClr val="1F2933"/>
                          </a:solidFill>
                          <a:latin typeface="Arial"/>
                        </a:rPr>
                        <a:t>1.25 (1.11–1.41)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3730752"/>
            <a:ext cx="3611879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Bef>
                <a:spcPts val="0"/>
              </a:spcBef>
              <a:spcAft>
                <a:spcPts val="5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1,600 invented subjects: 1,074 events, 526 right-censored.</a:t>
            </a:r>
            <a:endParaRPr lang="en-US" sz="105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5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Concordance 0.62 in-sample and 0.60 on an independent synthetic holdout.</a:t>
            </a:r>
            <a:endParaRPr lang="en-US" sz="105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5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Schoenfeld proportional-hazards p-values 0.28 / 0.25 / 0.94: no violation detected.</a:t>
            </a:r>
            <a:endParaRPr lang="en-US" sz="105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sz="1050" b="1" lang="en-US">
                <a:solidFill>
                  <a:srgbClr val="1F2933"/>
                </a:solidFill>
                <a:latin typeface="Arial"/>
              </a:rPr>
              <a:t>Shows the lifelines workflow recovers known effects. It is not an Everpure model: the extract has no customer event histories.</a:t>
            </a:r>
            <a:endParaRPr lang="en-US" sz="105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19" y="1572768"/>
            <a:ext cx="679673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lang="en-US">
                <a:solidFill>
                  <a:srgbClr val="1C5CAB"/>
                </a:solidFill>
                <a:latin typeface="Arial"/>
              </a:rPr>
              <a:t>LANE B · EVERPURE PLANNING SCENARIOS</a:t>
            </a:r>
            <a:endParaRPr lang="en-US" sz="950" dirty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19" y="1773936"/>
            <a:ext cx="679673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lang="en-US">
                <a:solidFill>
                  <a:srgbClr val="0B2341"/>
                </a:solidFill>
                <a:latin typeface="Arial"/>
              </a:rPr>
              <a:t>Assumption-based exponential hazards for the 1,144 modeled accounts — expected cumulative first reactivations</a:t>
            </a:r>
            <a:endParaRPr lang="en-US" sz="1300" dirty="0">
              <a:latin typeface="Arial"/>
            </a:endParaRP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846319" y="2377440"/>
          <a:ext cx="6796735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46319" y="5010912"/>
            <a:ext cx="6796735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Counts are cumulative expectations, not observed conversions: the 3-, 6- and 12-month values must not be added. No campaign treatment effect is identified.</a:t>
            </a:r>
            <a:endParaRPr lang="en-US" sz="105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P(reactivate by month t) = 1 − exp(−λ·t·e</a:t>
            </a:r>
            <a:r>
              <a:rPr sz="1050" b="0" lang="en-US" baseline="30000">
                <a:solidFill>
                  <a:srgbClr val="1F2933"/>
                </a:solidFill>
                <a:latin typeface="Arial"/>
              </a:rPr>
              <a:t>xβ</a:t>
            </a:r>
            <a:r>
              <a:rPr sz="1050" b="0" lang="en-US">
                <a:solidFill>
                  <a:srgbClr val="1F2933"/>
                </a:solidFill>
                <a:latin typeface="Arial"/>
              </a:rPr>
              <a:t>), with assumed effects for health, partner ownership, child status and valid tickets.</a:t>
            </a:r>
            <a:endParaRPr lang="en-US" sz="105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sz="1050" b="0" lang="en-US">
                <a:solidFill>
                  <a:srgbClr val="1F2933"/>
                </a:solidFill>
                <a:latin typeface="Arial"/>
              </a:rPr>
              <a:t>Unknown health is scored at the reference level and lifts rankings: scoring it as Yellow or Red cuts base 12-month reactivations from 128.7 to 121.1 or 112.4.</a:t>
            </a:r>
            <a:endParaRPr lang="en-US" sz="1050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85216"/>
            <a:ext cx="11094415" cy="868680"/>
          </a:xfrm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lang="en-US">
                <a:solidFill>
                  <a:srgbClr val="0B2341"/>
                </a:solidFill>
                <a:latin typeface="Cambria"/>
              </a:rPr>
              <a:t>Illustrative economics are positive in the base case (~$202k at a 15% offer) but depend heavily on unverified assumptions</a:t>
            </a:r>
            <a:endParaRPr lang="en-US" sz="2300" dirty="0"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C5CAB"/>
                </a:solidFill>
                <a:latin typeface="Arial"/>
              </a:rPr>
              <a:t>MONTE CARLO NPV &amp; FINANCIAL RISK</a:t>
            </a:r>
            <a:endParaRPr lang="en-US" sz="10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0" y="310896"/>
            <a:ext cx="59737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8A94A3"/>
                </a:solidFill>
                <a:latin typeface="Arial"/>
              </a:rPr>
              <a:t>1  Opportunity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2  Data &amp; SQL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3  Survival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1" lang="en-US">
                <a:solidFill>
                  <a:srgbClr val="0B2341"/>
                </a:solidFill>
                <a:latin typeface="Arial"/>
              </a:rPr>
              <a:t>4  Monte Carlo NPV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5  GTM routing</a:t>
            </a:r>
            <a:endParaRPr lang="en-US" sz="950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Source: frozen Phase 3 outputs (financial_scenario_matrix.csv, monte_carlo_npv_summary.csv, financial_sensitivity.csv); assumption fingerprint b953c02d…; NumPy PCG64 seed 20261009 with common random numbers. P5/P95 are conditional simulation percentiles, not confidence intervals. Label: ILLUSTRATIVE_NET_PROGRAM_NPV_NOT_CAUSALLY_ATTRIBUTED.</a:t>
            </a:r>
            <a:endParaRPr lang="en-US" sz="9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646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8A94A3"/>
                </a:solidFill>
                <a:latin typeface="Arial"/>
              </a:rPr>
              <a:t>Executive slide 4 of 5</a:t>
            </a:r>
            <a:endParaRPr lang="en-US" sz="9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6126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ANALYTICAL EXPECTED NET PROGRAM NPV — BASE HAZARD, BY HYPOTHETICAL OFFER</a:t>
            </a:r>
            <a:endParaRPr lang="en-US" sz="1000" dirty="0">
              <a:latin typeface="Arial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810512"/>
          <a:ext cx="612648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6126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MONTE CARLO DISTRIBUTION — BASE HAZARD, 15% OFFER, 1,000 RUNS</a:t>
            </a:r>
            <a:endParaRPr lang="en-US" sz="1000" dirty="0"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61688"/>
          <a:ext cx="6126480" cy="658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Sample mean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Median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5th percentile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95th percentile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lang="en-US">
                          <a:solidFill>
                            <a:srgbClr val="FFFFFF"/>
                          </a:solidFill>
                          <a:latin typeface="Arial"/>
                        </a:rPr>
                        <a:t>Runs with NPV &lt; $0</a:t>
                      </a:r>
                      <a:endParaRPr lang="en-US" sz="10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234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0B2341"/>
                          </a:solidFill>
                          <a:latin typeface="Arial"/>
                        </a:rPr>
                        <a:t>$202.9k</a:t>
                      </a:r>
                      <a:endParaRPr lang="en-US" sz="13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0B2341"/>
                          </a:solidFill>
                          <a:latin typeface="Arial"/>
                        </a:rPr>
                        <a:t>$202.6k</a:t>
                      </a:r>
                      <a:endParaRPr lang="en-US" sz="13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0B2341"/>
                          </a:solidFill>
                          <a:latin typeface="Arial"/>
                        </a:rPr>
                        <a:t>$150.7k</a:t>
                      </a:r>
                      <a:endParaRPr lang="en-US" sz="13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0B2341"/>
                          </a:solidFill>
                          <a:latin typeface="Arial"/>
                        </a:rPr>
                        <a:t>$256.5k</a:t>
                      </a:r>
                      <a:endParaRPr lang="en-US" sz="13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0B2341"/>
                          </a:solidFill>
                          <a:latin typeface="Arial"/>
                        </a:rPr>
                        <a:t>0 of 1,000</a:t>
                      </a:r>
                      <a:endParaRPr lang="en-US" sz="1300" dirty="0">
                        <a:latin typeface="Arial"/>
                      </a:endParaRP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05663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Analytical expectation $201.5k (closed form) vs. simulation sample mean $202.9k: a +1.38 standard-error difference; the largest across all nine cells is 1.88.</a:t>
            </a:r>
            <a:endParaRPr lang="en-US" sz="950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40880" y="1572768"/>
            <a:ext cx="4602175" cy="36576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1700784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lang="en-US">
                <a:solidFill>
                  <a:srgbClr val="0B2341"/>
                </a:solidFill>
                <a:latin typeface="Arial"/>
              </a:rPr>
              <a:t>How to read the result</a:t>
            </a:r>
            <a:endParaRPr lang="en-US" sz="1400" dirty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4199839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1F2933"/>
              </a:buClr>
              <a:buFont typeface="Arial"/>
              <a:buChar char="•"/>
            </a:pPr>
            <a:r>
              <a:rPr sz="1100" b="1" lang="en-US">
                <a:solidFill>
                  <a:srgbClr val="1F2933"/>
                </a:solidFill>
                <a:latin typeface="Arial"/>
              </a:rPr>
              <a:t>5% scores highest only because the model holds reactivation hazard fixed across offers. </a:t>
            </a:r>
            <a:r>
              <a:rPr sz="1100" b="0" lang="en-US">
                <a:solidFill>
                  <a:srgbClr val="1F2933"/>
                </a:solidFill>
                <a:latin typeface="Arial"/>
              </a:rPr>
              <a:t>15% and 30% would need 1.13× and 1.41× the hazard to match it — not evidence that 5% is optimal.</a:t>
            </a:r>
            <a:endParaRPr lang="en-US" sz="110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1F2933"/>
              </a:buClr>
              <a:buFont typeface="Arial"/>
              <a:buChar char="•"/>
            </a:pPr>
            <a:r>
              <a:rPr sz="1100" b="0" lang="en-US">
                <a:solidFill>
                  <a:srgbClr val="1F2933"/>
                </a:solidFill>
                <a:latin typeface="Arial"/>
              </a:rPr>
              <a:t>Across the nine cells the expected NPV ranges from $15.9k (conservative, 30%) to $464.6k (optimistic, 5%). The cells are alternatives; never add them.</a:t>
            </a:r>
            <a:endParaRPr lang="en-US" sz="110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1F2933"/>
              </a:buClr>
              <a:buFont typeface="Arial"/>
              <a:buChar char="•"/>
            </a:pPr>
            <a:r>
              <a:rPr sz="1100" b="0" lang="en-US">
                <a:solidFill>
                  <a:srgbClr val="1F2933"/>
                </a:solidFill>
                <a:latin typeface="Arial"/>
              </a:rPr>
              <a:t>Committed combined adverse stress ($750 revenue, 45% margin, $150 outreach, $300 activation, 24% rate, 3 paid months) turns NPV to </a:t>
            </a:r>
            <a:r>
              <a:rPr sz="1100" b="1" lang="en-US">
                <a:solidFill>
                  <a:srgbClr val="1F2933"/>
                </a:solidFill>
                <a:latin typeface="Arial"/>
              </a:rPr>
              <a:t>−$124.6k</a:t>
            </a:r>
            <a:r>
              <a:rPr sz="1100" b="0" lang="en-US">
                <a:solidFill>
                  <a:srgbClr val="1F2933"/>
                </a:solidFill>
                <a:latin typeface="Arial"/>
              </a:rPr>
              <a:t>.</a:t>
            </a:r>
            <a:endParaRPr lang="en-US" sz="1100" dirty="0">
              <a:latin typeface="Arial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sz="1100" b="0" lang="en-US">
                <a:solidFill>
                  <a:srgbClr val="1F2933"/>
                </a:solidFill>
                <a:latin typeface="Arial"/>
              </a:rPr>
              <a:t>Net program value under analyst-selected unit economics — not verified profitability or causally identified incremental uplift.</a:t>
            </a:r>
            <a:endParaRPr lang="en-US" sz="1100" dirty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lang="en-US">
                <a:solidFill>
                  <a:srgbClr val="4F5B6A"/>
                </a:solidFill>
                <a:latin typeface="Arial"/>
              </a:rPr>
              <a:t>ILLUSTRATIVE UNIT ECONOMICS (ANALYST-SELECTED, NOT OBSERVED)</a:t>
            </a:r>
            <a:endParaRPr lang="en-US" sz="950" dirty="0"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$1,000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gross revenue per activated account per month</a:t>
            </a:r>
            <a:endParaRPr lang="en-US" sz="900" dirty="0"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15997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60%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contribution margin</a:t>
            </a:r>
            <a:endParaRPr lang="en-US" sz="900" dirty="0"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83354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$100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outreach per modeled account</a:t>
            </a:r>
            <a:endParaRPr lang="en-US" sz="900" dirty="0"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0711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$200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activation cost per reactivation</a:t>
            </a:r>
            <a:endParaRPr lang="en-US" sz="900" dirty="0"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18068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12%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annual effective discount rate</a:t>
            </a:r>
            <a:endParaRPr lang="en-US" sz="900" dirty="0"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885426" y="5641848"/>
            <a:ext cx="175762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rIns="73152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en-US">
                <a:solidFill>
                  <a:srgbClr val="0B2341"/>
                </a:solidFill>
                <a:latin typeface="Arial"/>
              </a:rPr>
              <a:t>12 months</a:t>
            </a:r>
            <a:endParaRPr lang="en-US" sz="125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financial horizon, no churn</a:t>
            </a:r>
            <a:endParaRPr lang="en-US" sz="900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85216"/>
            <a:ext cx="11094415" cy="868680"/>
          </a:xfrm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lang="en-US">
                <a:solidFill>
                  <a:srgbClr val="0B2341"/>
                </a:solidFill>
                <a:latin typeface="Cambria"/>
              </a:rPr>
              <a:t>Route 518 accounts to conditional planning channels, hold 626 for review, and release outreach only through gated pilots</a:t>
            </a:r>
            <a:endParaRPr lang="en-US" sz="2300" dirty="0"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C5CAB"/>
                </a:solidFill>
                <a:latin typeface="Arial"/>
              </a:rPr>
              <a:t>GTM ROUTING, ROADMAP &amp; DECISION</a:t>
            </a:r>
            <a:endParaRPr lang="en-US" sz="10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0" y="310896"/>
            <a:ext cx="59737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8A94A3"/>
                </a:solidFill>
                <a:latin typeface="Arial"/>
              </a:rPr>
              <a:t>1  Opportunity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2  Data &amp; SQL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3  Survival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4  Monte Carlo NPV</a:t>
            </a:r>
            <a:r>
              <a:rPr sz="950" b="0" lang="en-US">
                <a:solidFill>
                  <a:srgbClr val="8A94A3"/>
                </a:solidFill>
                <a:latin typeface="Arial"/>
              </a:rPr>
              <a:t>      </a:t>
            </a:r>
            <a:r>
              <a:rPr sz="950" b="1" lang="en-US">
                <a:solidFill>
                  <a:srgbClr val="0B2341"/>
                </a:solidFill>
                <a:latin typeface="Arial"/>
              </a:rPr>
              <a:t>5  GTM routing</a:t>
            </a:r>
            <a:endParaRPr lang="en-US" sz="950" dirty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4F5B6A"/>
                </a:solidFill>
                <a:latin typeface="Arial"/>
              </a:rPr>
              <a:t>Source: frozen Phase 4 aggregates via phase5_input_contract.json v2 (policy fingerprint 1998cc4a…). All dispositions are PLANNING_ONLY with execution_authorized = false. Priority tiers use fixed base/15% NPV cutpoints; the modeled NPV is not attributable to the 518 routed accounts alone.</a:t>
            </a:r>
            <a:endParaRPr lang="en-US" sz="9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26461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buNone/>
            </a:pPr>
            <a:r>
              <a:rPr sz="900" b="0" lang="en-US">
                <a:solidFill>
                  <a:srgbClr val="8A94A3"/>
                </a:solidFill>
                <a:latin typeface="Arial"/>
              </a:rPr>
              <a:t>Executive slide 5 of 5</a:t>
            </a:r>
            <a:endParaRPr lang="en-US" sz="9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CONDITIONAL ROUTES · 1,144 MODELED ACCOUNTS</a:t>
            </a:r>
            <a:endParaRPr lang="en-US" sz="1000" dirty="0">
              <a:latin typeface="Arial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810512"/>
          <a:ext cx="38862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2452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1F2933"/>
                </a:solidFill>
                <a:latin typeface="Arial"/>
              </a:rPr>
              <a:t>Share of 1,144: Partner-led 21.6% · Direct-enterprise 5.8% · Digital-nurture 17.9% · Hold 54.7%</a:t>
            </a:r>
            <a:endParaRPr lang="en-US" sz="950" dirty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Holds: 367 unknown partner ownership (R3) and 259 needing service recovery — Red health or ≥ 5 valid open tickets (R4).</a:t>
            </a:r>
            <a:endParaRPr lang="en-US" sz="950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79" y="1572768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EVIDENCE QUALITY &amp; HIERARCHY</a:t>
            </a:r>
            <a:endParaRPr lang="en-US" sz="1000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79" y="1847088"/>
            <a:ext cx="3246120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tIns="36576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0B2341"/>
                </a:solidFill>
                <a:latin typeface="Cambria"/>
              </a:rPr>
              <a:t>288 · 418 · 438</a:t>
            </a:r>
            <a:endParaRPr lang="en-US" sz="15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High / Medium / Low illustrative priority (fixed NPV cutpoints)</a:t>
            </a:r>
            <a:endParaRPr lang="en-US" sz="950" dirty="0"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4879" y="2496312"/>
            <a:ext cx="3246120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tIns="36576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0B2341"/>
                </a:solidFill>
                <a:latin typeface="Cambria"/>
              </a:rPr>
              <a:t>187 of 288</a:t>
            </a:r>
            <a:endParaRPr lang="en-US" sz="15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High-priority accounts have unknown health</a:t>
            </a:r>
            <a:endParaRPr lang="en-US" sz="950" dirty="0"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4879" y="3145536"/>
            <a:ext cx="3246120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tIns="36576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0B2341"/>
                </a:solidFill>
                <a:latin typeface="Cambria"/>
              </a:rPr>
              <a:t>235 of 295 roots</a:t>
            </a:r>
            <a:endParaRPr lang="en-US" sz="15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carry a known partner-ownership conflict (full-source membership)</a:t>
            </a:r>
            <a:endParaRPr lang="en-US" sz="950" dirty="0"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4879" y="3794760"/>
            <a:ext cx="3246120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tIns="36576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0B2341"/>
                </a:solidFill>
                <a:latin typeface="Cambria"/>
              </a:rPr>
              <a:t>282 roots · 1,131 accts</a:t>
            </a:r>
            <a:endParaRPr lang="en-US" sz="15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require parent-child coordination before contact</a:t>
            </a:r>
            <a:endParaRPr lang="en-US" sz="950" dirty="0"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54879" y="4443983"/>
            <a:ext cx="3246120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tIns="36576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0B2341"/>
                </a:solidFill>
                <a:latin typeface="Cambria"/>
              </a:rPr>
              <a:t>0</a:t>
            </a:r>
            <a:endParaRPr lang="en-US" sz="1500" dirty="0">
              <a:latin typeface="Cambria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0" lang="en-US">
                <a:solidFill>
                  <a:srgbClr val="4F5B6A"/>
                </a:solidFill>
                <a:latin typeface="Arial"/>
              </a:rPr>
              <a:t>authorized customer-contact actions</a:t>
            </a:r>
            <a:endParaRPr lang="en-US" sz="950" dirty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32201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4F5B6A"/>
                </a:solidFill>
                <a:latin typeface="Arial"/>
              </a:rPr>
              <a:t>RELEASE GATES BEFORE ANY OUTREACH</a:t>
            </a:r>
            <a:endParaRPr lang="en-US" sz="1000" dirty="0"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21040" y="1847088"/>
            <a:ext cx="566928" cy="585216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FFFFFF"/>
                </a:solidFill>
                <a:latin typeface="Arial"/>
              </a:rPr>
              <a:t>Gate</a:t>
            </a:r>
            <a:endParaRPr lang="en-US" sz="1000" dirty="0">
              <a:latin typeface="Arial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FFFFFF"/>
                </a:solidFill>
                <a:latin typeface="Arial"/>
              </a:rPr>
              <a:t>1</a:t>
            </a:r>
            <a:endParaRPr lang="en-US" sz="1000" dirty="0"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87967" y="1847088"/>
            <a:ext cx="2755087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27432" bIns="27432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F2933"/>
                </a:solidFill>
                <a:latin typeface="Arial"/>
              </a:rPr>
              <a:t>Validate</a:t>
            </a:r>
            <a:r>
              <a:rPr sz="1000" b="0" lang="en-US">
                <a:solidFill>
                  <a:srgbClr val="1F2933"/>
                </a:solidFill>
                <a:latin typeface="Arial"/>
              </a:rPr>
              <a:t> — fiscal eligibility, partner ownership, health and service barriers</a:t>
            </a:r>
            <a:endParaRPr lang="en-US" sz="1000" dirty="0"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2496312"/>
            <a:ext cx="566928" cy="585216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FFFFFF"/>
                </a:solidFill>
                <a:latin typeface="Arial"/>
              </a:rPr>
              <a:t>Gate</a:t>
            </a:r>
            <a:endParaRPr lang="en-US" sz="1000" dirty="0">
              <a:latin typeface="Arial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FFFFFF"/>
                </a:solidFill>
                <a:latin typeface="Arial"/>
              </a:rPr>
              <a:t>2</a:t>
            </a:r>
            <a:endParaRPr lang="en-US" sz="1000" dirty="0"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87967" y="2496312"/>
            <a:ext cx="2755087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27432" bIns="27432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F2933"/>
                </a:solidFill>
                <a:latin typeface="Arial"/>
              </a:rPr>
              <a:t>Coordinate</a:t>
            </a:r>
            <a:r>
              <a:rPr sz="1000" b="0" lang="en-US">
                <a:solidFill>
                  <a:srgbClr val="1F2933"/>
                </a:solidFill>
                <a:latin typeface="Arial"/>
              </a:rPr>
              <a:t> — resolve parent-child ownership; prevent overlapping campaigns</a:t>
            </a:r>
            <a:endParaRPr lang="en-US" sz="1000" dirty="0"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21040" y="3145536"/>
            <a:ext cx="566928" cy="5852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FFFFFF"/>
                </a:solidFill>
                <a:latin typeface="Arial"/>
              </a:rPr>
              <a:t>Gate</a:t>
            </a:r>
            <a:endParaRPr lang="en-US" sz="1000" dirty="0">
              <a:latin typeface="Arial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FFFFFF"/>
                </a:solidFill>
                <a:latin typeface="Arial"/>
              </a:rPr>
              <a:t>3</a:t>
            </a:r>
            <a:endParaRPr lang="en-US" sz="1000" dirty="0"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887967" y="3145536"/>
            <a:ext cx="2755087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27432" bIns="27432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F2933"/>
                </a:solidFill>
                <a:latin typeface="Arial"/>
              </a:rPr>
              <a:t>Pilot</a:t>
            </a:r>
            <a:r>
              <a:rPr sz="1000" b="0" lang="en-US">
                <a:solidFill>
                  <a:srgbClr val="1F2933"/>
                </a:solidFill>
                <a:latin typeface="Arial"/>
              </a:rPr>
              <a:t> — controlled partner / direct / digital pilots where permissions exist</a:t>
            </a:r>
            <a:endParaRPr lang="en-US" sz="1000" dirty="0"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21040" y="3794760"/>
            <a:ext cx="566928" cy="5852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FFFFFF"/>
                </a:solidFill>
                <a:latin typeface="Arial"/>
              </a:rPr>
              <a:t>Gate</a:t>
            </a:r>
            <a:endParaRPr lang="en-US" sz="1000" dirty="0">
              <a:latin typeface="Arial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FFFFFF"/>
                </a:solidFill>
                <a:latin typeface="Arial"/>
              </a:rPr>
              <a:t>4</a:t>
            </a:r>
            <a:endParaRPr lang="en-US" sz="1000" dirty="0"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887967" y="3794760"/>
            <a:ext cx="2755087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27432" bIns="27432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F2933"/>
                </a:solidFill>
                <a:latin typeface="Arial"/>
              </a:rPr>
              <a:t>Measure</a:t>
            </a:r>
            <a:r>
              <a:rPr sz="1000" b="0" lang="en-US">
                <a:solidFill>
                  <a:srgbClr val="1F2933"/>
                </a:solidFill>
                <a:latin typeface="Arial"/>
              </a:rPr>
              <a:t> — observed reactivation, uplift vs. control, actual cost and margin</a:t>
            </a:r>
            <a:endParaRPr lang="en-US" sz="1000" dirty="0"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21040" y="4443983"/>
            <a:ext cx="566928" cy="5852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FFFFFF"/>
                </a:solidFill>
                <a:latin typeface="Arial"/>
              </a:rPr>
              <a:t>Gate</a:t>
            </a:r>
            <a:endParaRPr lang="en-US" sz="1000" dirty="0">
              <a:latin typeface="Arial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FFFFFF"/>
                </a:solidFill>
                <a:latin typeface="Arial"/>
              </a:rPr>
              <a:t>5</a:t>
            </a:r>
            <a:endParaRPr lang="en-US" sz="1000" dirty="0"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887967" y="4443983"/>
            <a:ext cx="2755087" cy="5852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27432" bIns="27432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lang="en-US">
                <a:solidFill>
                  <a:srgbClr val="1F2933"/>
                </a:solidFill>
                <a:latin typeface="Arial"/>
              </a:rPr>
              <a:t>Scale</a:t>
            </a:r>
            <a:r>
              <a:rPr sz="1000" b="0" lang="en-US">
                <a:solidFill>
                  <a:srgbClr val="1F2933"/>
                </a:solidFill>
                <a:latin typeface="Arial"/>
              </a:rPr>
              <a:t> — recalibrate the model; scale only when evidence supports it</a:t>
            </a:r>
            <a:endParaRPr lang="en-US" sz="1000" dirty="0">
              <a:latin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175504"/>
            <a:ext cx="11094415" cy="566928"/>
          </a:xfrm>
          <a:prstGeom prst="rect">
            <a:avLst/>
          </a:prstGeom>
          <a:solidFill>
            <a:srgbClr val="0B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lang="en-US">
                <a:solidFill>
                  <a:srgbClr val="FFFFFF"/>
                </a:solidFill>
                <a:latin typeface="Arial"/>
              </a:rPr>
              <a:t>Decision: approve a data-validation sprint and a controlled, measured pilot — not a full-scale reactivation campaign. The 518 routed candidates are not approved contacts.</a:t>
            </a:r>
            <a:endParaRPr lang="en-US" sz="1150" dirty="0">
              <a:latin typeface="Arial"/>
            </a:endParaRPr>
          </a:p>
        </p:txBody>
      </p:sp>
      <p:sp>
        <p:nvSpPr>
          <p:cNvPr id="29" name="Rounded Rectangle 28">
            <a:hlinkClick r:id="rId3"/>
          </p:cNvPr>
          <p:cNvSpPr/>
          <p:nvPr/>
        </p:nvSpPr>
        <p:spPr>
          <a:xfrm>
            <a:off x="548640" y="5833872"/>
            <a:ext cx="5432907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u="sng" lang="en-US">
                <a:solidFill>
                  <a:srgbClr val="1F5FA8"/>
                </a:solidFill>
                <a:latin typeface="Arial"/>
                <a:hlinkClick r:id="rId3"/>
              </a:rPr>
              <a:t>Full Analytical Evidence &amp; Diagrams — Google Drive</a:t>
            </a:r>
            <a:endParaRPr lang="en-US" sz="1200" dirty="0">
              <a:latin typeface="Arial"/>
            </a:endParaRPr>
          </a:p>
        </p:txBody>
      </p:sp>
      <p:sp>
        <p:nvSpPr>
          <p:cNvPr id="30" name="Rounded Rectangle 29">
            <a:hlinkClick r:id="rId4"/>
          </p:cNvPr>
          <p:cNvSpPr/>
          <p:nvPr/>
        </p:nvSpPr>
        <p:spPr>
          <a:xfrm>
            <a:off x="6210147" y="5833872"/>
            <a:ext cx="5432907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 bIns="18288"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u="sng" lang="en-US">
                <a:solidFill>
                  <a:srgbClr val="1F5FA8"/>
                </a:solidFill>
                <a:latin typeface="Arial"/>
                <a:hlinkClick r:id="rId4"/>
              </a:rPr>
              <a:t>Executable Code, SQL &amp; Notebooks — GitHub</a:t>
            </a:r>
            <a:endParaRPr lang="en-US" sz="1200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rpure Institutio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5FA8"/>
      </a:hlink>
      <a:folHlink>
        <a:srgbClr val="1F5FA8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Everpure — Reactivating Long-Dormant Accounts</dc:title>
  <dc:subject>Five-slide executive presentation with technical appendix: data foundation, survival analysis, Monte Carlo NPV and GTM routing</dc:subject>
  <dc:creator>Everpure Case Study 1 candidate submission</dc:creator>
  <cp:keywords>Everpure; install base; reactivation; survival analysis; Monte Carlo NPV; GTM routing</cp:keywords>
  <dc:description>Five executive slides; mirrors pages 1-5 of the submission PDF.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